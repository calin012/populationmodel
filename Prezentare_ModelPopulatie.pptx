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683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2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746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9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8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0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91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4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5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9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9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5830424B-1127-286E-A2BE-D6F48F10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7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A8C1D-7867-5902-DB3B-7AD70781A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561" y="1066800"/>
            <a:ext cx="3931320" cy="2267193"/>
          </a:xfrm>
        </p:spPr>
        <p:txBody>
          <a:bodyPr>
            <a:normAutofit fontScale="90000"/>
          </a:bodyPr>
          <a:lstStyle/>
          <a:p>
            <a:r>
              <a:rPr lang="ro-RO" dirty="0"/>
              <a:t>METODE NUMERICE</a:t>
            </a:r>
            <a:r>
              <a:rPr lang="en-US"/>
              <a:t>.</a:t>
            </a:r>
            <a:br>
              <a:rPr lang="ro-RO" dirty="0"/>
            </a:br>
            <a:r>
              <a:rPr lang="ro-RO" dirty="0"/>
              <a:t>APLICATIE:</a:t>
            </a:r>
            <a:br>
              <a:rPr lang="ro-RO" dirty="0"/>
            </a:br>
            <a:r>
              <a:rPr lang="ro-RO" dirty="0"/>
              <a:t>MODEL DE POPULATIE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0459C-FE58-31DE-476C-764440FE8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8561" y="4327781"/>
            <a:ext cx="3931321" cy="1033669"/>
          </a:xfrm>
        </p:spPr>
        <p:txBody>
          <a:bodyPr>
            <a:normAutofit/>
          </a:bodyPr>
          <a:lstStyle/>
          <a:p>
            <a:r>
              <a:rPr lang="en-US" dirty="0"/>
              <a:t>Constantin C</a:t>
            </a:r>
            <a:r>
              <a:rPr lang="ro-RO" dirty="0"/>
              <a:t>ălin - Ștefan,</a:t>
            </a:r>
          </a:p>
          <a:p>
            <a:r>
              <a:rPr lang="ro-RO" dirty="0"/>
              <a:t>Vasile Corneliu,</a:t>
            </a:r>
            <a:r>
              <a:rPr lang="en-US" dirty="0"/>
              <a:t> 323AC</a:t>
            </a:r>
            <a:endParaRPr lang="en-1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80479" y="3871114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854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EB329-5C1B-7D5B-8B5C-6DFD8F32A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  <a:p>
            <a:pPr marL="457200" indent="-457200">
              <a:buAutoNum type="arabicPeriod"/>
            </a:pPr>
            <a:r>
              <a:rPr lang="ro-RO" sz="2800" dirty="0"/>
              <a:t>Descrierea problemei</a:t>
            </a:r>
          </a:p>
          <a:p>
            <a:pPr marL="457200" indent="-457200">
              <a:buAutoNum type="arabicPeriod"/>
            </a:pPr>
            <a:r>
              <a:rPr lang="ro-RO" sz="2800" dirty="0"/>
              <a:t>Analiza</a:t>
            </a:r>
          </a:p>
          <a:p>
            <a:pPr marL="457200" indent="-457200">
              <a:buAutoNum type="arabicPeriod"/>
            </a:pPr>
            <a:r>
              <a:rPr lang="ro-RO" sz="2800" dirty="0"/>
              <a:t>Relevanta algoritmului ales</a:t>
            </a:r>
          </a:p>
          <a:p>
            <a:pPr marL="457200" indent="-457200">
              <a:buAutoNum type="arabicPeriod"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2871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CDBE-CA1F-68F8-988E-68BB1D473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Descrierea problemei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B4DB-7A01-ACAB-7F70-97E893358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Aplicatia se bazeaza pe modelul de populatie Leslie, denumit dupa Patrick H. Leslie.</a:t>
            </a:r>
          </a:p>
          <a:p>
            <a:endParaRPr lang="ro-RO" dirty="0"/>
          </a:p>
          <a:p>
            <a:r>
              <a:rPr lang="ro-RO" dirty="0"/>
              <a:t>Acesta analizeaza evolutia unei populatii impartite pe clase de varsta de-a lungul unei perioade de timp, pe baza unor date de intrare sub forma unui vector </a:t>
            </a:r>
            <a:r>
              <a:rPr lang="ro-RO" i="1" dirty="0"/>
              <a:t>x</a:t>
            </a:r>
            <a:r>
              <a:rPr lang="ro-RO" dirty="0"/>
              <a:t> ce denota structura initiala a populatiei, un vector </a:t>
            </a:r>
            <a:r>
              <a:rPr lang="ro-RO" i="1" dirty="0"/>
              <a:t>p</a:t>
            </a:r>
            <a:r>
              <a:rPr lang="ro-RO" dirty="0"/>
              <a:t> ce reprezinta probabilitatea ca un individ din clasa asociata sa supravietuiasca si sa ajunga in urmatoarea clasa de varsta dupa perioada data si un vector </a:t>
            </a:r>
            <a:r>
              <a:rPr lang="ro-RO" i="1" dirty="0"/>
              <a:t>b</a:t>
            </a:r>
            <a:r>
              <a:rPr lang="ro-RO" dirty="0"/>
              <a:t>, ce reprezinta numarul mediu de nou-nascuti pe care un individ din clasa asociata il va aduce populatiei pana la urmatorul interval de timp</a:t>
            </a:r>
          </a:p>
        </p:txBody>
      </p:sp>
    </p:spTree>
    <p:extLst>
      <p:ext uri="{BB962C8B-B14F-4D97-AF65-F5344CB8AC3E}">
        <p14:creationId xmlns:p14="http://schemas.microsoft.com/office/powerpoint/2010/main" val="3611324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37019-308E-8860-9077-A6A5FF0BC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- Datele de intrare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CF91-4D8A-067F-D32A-6D7F50252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Clasele de varsta sunt reprezentate astfel, unde L reprezinta varsta maxima, iar n numarul de clase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Exemplu de vectori b, p si x pentru 10 clase de varsta</a:t>
            </a:r>
            <a:endParaRPr lang="en-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97E1F0-8957-EC01-4BA9-44190B08F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71" y="2429493"/>
            <a:ext cx="6868484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F08610-FA0A-2FA3-4ED8-32BD6790F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802" y="4199395"/>
            <a:ext cx="9640645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84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089FF-C7E9-7463-2B4D-82F497D8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- Matricea de tranzitie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19892-C905-9061-36AB-7F76CF667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164758"/>
            <a:ext cx="10134600" cy="3969342"/>
          </a:xfrm>
        </p:spPr>
        <p:txBody>
          <a:bodyPr/>
          <a:lstStyle/>
          <a:p>
            <a:r>
              <a:rPr lang="ro-RO" dirty="0"/>
              <a:t>Cu ajutorul datelor oferite se realizeaza matricea de tranzitie sub urmatoarea forma: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, fiind folositi vectorii </a:t>
            </a:r>
            <a:r>
              <a:rPr lang="ro-RO" i="1" dirty="0"/>
              <a:t>b </a:t>
            </a:r>
            <a:r>
              <a:rPr lang="ro-RO" dirty="0"/>
              <a:t>si </a:t>
            </a:r>
            <a:r>
              <a:rPr lang="ro-RO" i="1" dirty="0"/>
              <a:t>p </a:t>
            </a:r>
            <a:r>
              <a:rPr lang="ro-RO" dirty="0"/>
              <a:t>prezentati anterior</a:t>
            </a:r>
          </a:p>
          <a:p>
            <a:endParaRPr lang="ro-RO" dirty="0"/>
          </a:p>
          <a:p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BF825-3E8B-AA71-1306-0F36B6F6A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96" y="2605815"/>
            <a:ext cx="4706007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08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51C9-FADC-49ED-0868-0E65B47E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– evolutia populatiei</a:t>
            </a:r>
            <a:endParaRPr lang="en-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1977B8-67AB-8606-FD7C-D2495A1621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/>
                  <a:t>Urmand modelul Leslie, evolutia populatiei este data de ecuatia:</a:t>
                </a:r>
              </a:p>
              <a:p>
                <a:endParaRPr lang="ro-RO" dirty="0"/>
              </a:p>
              <a:p>
                <a:r>
                  <a:rPr lang="ro-RO" dirty="0"/>
                  <a:t>, unde A este matricea de tranzitie,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dirty="0"/>
                  <a:t> reprezentarea actuala a populatiei, iar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o-RO" dirty="0"/>
                  <a:t> reprezentarea populatiei la urmatorul interval de timp.</a:t>
                </a:r>
              </a:p>
              <a:p>
                <a:endParaRPr lang="ro-RO" dirty="0"/>
              </a:p>
              <a:p>
                <a:r>
                  <a:rPr lang="ro-RO" dirty="0"/>
                  <a:t>Astfel observam cum aplicarea repetata matricei de tranzitie asupra evolutiei populatiei ne ofera informatii despre aceasta pe o perioada indelungata</a:t>
                </a:r>
              </a:p>
              <a:p>
                <a:endParaRPr lang="ro-RO" dirty="0"/>
              </a:p>
              <a:p>
                <a:endParaRPr lang="en-15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1977B8-67AB-8606-FD7C-D2495A1621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2" t="-768"/>
                </a:stretch>
              </a:blipFill>
            </p:spPr>
            <p:txBody>
              <a:bodyPr/>
              <a:lstStyle/>
              <a:p>
                <a:r>
                  <a:rPr lang="en-150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639B030-AEC9-BEAC-8807-E8A612262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393" y="2675342"/>
            <a:ext cx="1705213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5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9881-41F7-ADD4-D9C4-439DF34B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Analiza – </a:t>
            </a:r>
            <a:r>
              <a:rPr lang="en-US" dirty="0" err="1"/>
              <a:t>evolutia</a:t>
            </a:r>
            <a:r>
              <a:rPr lang="en-US" dirty="0"/>
              <a:t> </a:t>
            </a:r>
            <a:r>
              <a:rPr lang="en-US" dirty="0" err="1"/>
              <a:t>populatiei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E9C8A-3393-3D46-F6F2-D5C8AADB2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165350"/>
            <a:ext cx="5494341" cy="39687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E54BB0-8933-5816-119F-A8E502E82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041" y="2194227"/>
            <a:ext cx="5494342" cy="393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8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C694-F57A-7FCB-7AFA-ADF34265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– evolutia populatiei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2B171-911E-E0D1-B945-9E3958A8F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Pe baza datelor oferite de fiecare iteratie a evolutiei, putem forma un grafic reprezentand datele obtinute de-a lungul timpului</a:t>
            </a:r>
          </a:p>
          <a:p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B7A68-EE05-B9EA-5929-44C018C6B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81" y="3128065"/>
            <a:ext cx="5224619" cy="333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21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4DCC-7896-6D4F-B3E6-EE2E37C0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– evolutia populatiei</a:t>
            </a:r>
            <a:endParaRPr lang="en-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59A30-FD93-BA44-2763-125B542C81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o-RO" dirty="0"/>
                  <a:t>Prin normalizarea vectorilor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dirty="0"/>
                  <a:t>, putem de asemenea sa obtinem informatii legate de procentajul reprezentat de fiecare clasa de varsta in populatie de-a lungul timpului</a:t>
                </a:r>
              </a:p>
              <a:p>
                <a:endParaRPr lang="en-15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959A30-FD93-BA44-2763-125B542C81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2" t="-768"/>
                </a:stretch>
              </a:blipFill>
            </p:spPr>
            <p:txBody>
              <a:bodyPr/>
              <a:lstStyle/>
              <a:p>
                <a:r>
                  <a:rPr lang="en-150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A9C84AC-B994-D714-AB45-63BCAE3F5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888658"/>
            <a:ext cx="5245533" cy="361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2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F4EE-F030-971F-267A-242DED78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– stabilitatea populatiei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F305-3B8B-A3D8-38D4-7EBCEC8F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O populatie poate fi considerata stabila atunci cand procentajele asociate fiecarei categorii de varsta nu se mai modifica de la o iteratie la alta. In alte cuvinte,</a:t>
            </a:r>
          </a:p>
          <a:p>
            <a:endParaRPr lang="ro-RO" dirty="0"/>
          </a:p>
          <a:p>
            <a:r>
              <a:rPr lang="ro-RO" dirty="0"/>
              <a:t>Vectorul initial se populatie se poate scrie ca o combinatie liniara a vectorilor proprii ai matricei A:</a:t>
            </a:r>
          </a:p>
          <a:p>
            <a:endParaRPr lang="ro-RO" dirty="0"/>
          </a:p>
          <a:p>
            <a:r>
              <a:rPr lang="ro-RO" dirty="0"/>
              <a:t>Astfel, se ajunge la ecuatia:</a:t>
            </a:r>
          </a:p>
          <a:p>
            <a:endParaRPr lang="ro-RO" dirty="0"/>
          </a:p>
          <a:p>
            <a:endParaRPr lang="ro-R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3D5F1-B9EC-9093-1FB2-A91B56F5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446" y="2969823"/>
            <a:ext cx="1667108" cy="39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DD80CC-BF85-2773-553D-BB3E8A901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93" y="3758509"/>
            <a:ext cx="3423813" cy="563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89DDFD-2286-A9A9-87B6-AAD7E6258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889" y="4968841"/>
            <a:ext cx="6592220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029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8A57-ABAF-45A4-DA77-FF7E83A4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– stabilitatea populatiei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A752F-DA74-8D07-28CD-A24BAD8D3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Din moment ce valoarea proprie dominanta este cea mai mare valoare proprie, atunci cand iteratia </a:t>
            </a:r>
            <a:r>
              <a:rPr lang="ro-RO" i="1" dirty="0"/>
              <a:t>t</a:t>
            </a:r>
            <a:r>
              <a:rPr lang="ro-RO" dirty="0"/>
              <a:t> va tinde la infinit, vectorul de populatie va deveni proportional cu valoarea proprie principala si cu vectorul propriu asociat:</a:t>
            </a:r>
          </a:p>
          <a:p>
            <a:endParaRPr lang="ro-RO" dirty="0"/>
          </a:p>
          <a:p>
            <a:r>
              <a:rPr lang="ro-RO" dirty="0"/>
              <a:t>Din aceste rezultate se deduce ca o valoare proprie dominanta &gt; 1 va rezulta intr-o populatie in crestere, iar una &lt; 1 va reprezenta o populatie in scadere. Prin scaderea lui 1 din eigenvalue putem afla si rata acestei cresteri sau scaderi.</a:t>
            </a:r>
          </a:p>
          <a:p>
            <a:r>
              <a:rPr lang="ro-RO" dirty="0"/>
              <a:t>De asemenea, acest rezultat ne ofera o proportie a populatiei stabile descrisa de matrice prin vectorul propriu aflat.</a:t>
            </a:r>
          </a:p>
          <a:p>
            <a:endParaRPr lang="en-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91D541-1AF5-511D-798F-E13AF210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551" y="3126118"/>
            <a:ext cx="1952898" cy="48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860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3335-6B48-FA8B-B091-F324BD9A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Relevanta algoritmului MP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00C5B-9124-46C6-A8C1-544AFBE1E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Relevanta acestui algoritm devine evidenta dupa prezentarea legaturii dintre stabilitatea unei populatii si valoarea proprie principala a matricei de tranzitie.</a:t>
            </a:r>
          </a:p>
          <a:p>
            <a:r>
              <a:rPr lang="ro-RO" dirty="0"/>
              <a:t>Astfel, programul nostru adapteaza o forma a algoritmului MP eficientizata pe forma matricei A si compara rezultatele cu o functie predefinita.</a:t>
            </a:r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03D56-3BE8-C6FD-D552-3D20CAF1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626" y="4461259"/>
            <a:ext cx="5718748" cy="9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4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7B99F-0B3B-9CD1-FE69-6A34701D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Relevanta algoritmului MP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2889E-A6B3-71B0-5B6B-EB61CEECE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De asemenea, stiind ca valoarea proprie dominanta ofera informatii despre rata de crestere sau scadere a populatiei, am ales sa calculam rata de crestere si iterativ in interiorul programului, pentru a observa cum aceasta tinde catre cea oferita de eigenvalue.</a:t>
            </a:r>
          </a:p>
          <a:p>
            <a:endParaRPr lang="en-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E0A618-D15A-6CFF-26CD-11AE410D6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408" y="3321064"/>
            <a:ext cx="5031183" cy="304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39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95AC-89D4-55B9-1EC7-A8CDDA5B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361308"/>
            <a:ext cx="10134600" cy="1288489"/>
          </a:xfrm>
        </p:spPr>
        <p:txBody>
          <a:bodyPr>
            <a:normAutofit/>
          </a:bodyPr>
          <a:lstStyle/>
          <a:p>
            <a:pPr algn="ctr"/>
            <a:r>
              <a:rPr lang="ro-RO" sz="4400" dirty="0"/>
              <a:t>Multumim pentru atentie!</a:t>
            </a:r>
            <a:endParaRPr lang="en-150" sz="4400" dirty="0"/>
          </a:p>
        </p:txBody>
      </p:sp>
    </p:spTree>
    <p:extLst>
      <p:ext uri="{BB962C8B-B14F-4D97-AF65-F5344CB8AC3E}">
        <p14:creationId xmlns:p14="http://schemas.microsoft.com/office/powerpoint/2010/main" val="2980395569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AnalogousFromRegularSeedRightStep">
      <a:dk1>
        <a:srgbClr val="000000"/>
      </a:dk1>
      <a:lt1>
        <a:srgbClr val="FFFFFF"/>
      </a:lt1>
      <a:dk2>
        <a:srgbClr val="1C2732"/>
      </a:dk2>
      <a:lt2>
        <a:srgbClr val="F3F0F1"/>
      </a:lt2>
      <a:accent1>
        <a:srgbClr val="21B782"/>
      </a:accent1>
      <a:accent2>
        <a:srgbClr val="14B1BC"/>
      </a:accent2>
      <a:accent3>
        <a:srgbClr val="298CE7"/>
      </a:accent3>
      <a:accent4>
        <a:srgbClr val="2E40D9"/>
      </a:accent4>
      <a:accent5>
        <a:srgbClr val="6529E7"/>
      </a:accent5>
      <a:accent6>
        <a:srgbClr val="A217D5"/>
      </a:accent6>
      <a:hlink>
        <a:srgbClr val="BF3F6C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 echo chamber effect</Template>
  <TotalTime>123</TotalTime>
  <Words>574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Bembo</vt:lpstr>
      <vt:lpstr>Cambria Math</vt:lpstr>
      <vt:lpstr>AdornVTI</vt:lpstr>
      <vt:lpstr>METODE NUMERICE. APLICATIE: MODEL DE POPULATIE</vt:lpstr>
      <vt:lpstr>PowerPoint Presentation</vt:lpstr>
      <vt:lpstr>Descrierea problemei</vt:lpstr>
      <vt:lpstr>Analiza - Datele de intrare</vt:lpstr>
      <vt:lpstr>Analiza - Matricea de tranzitie</vt:lpstr>
      <vt:lpstr>Analiza – evolutia populatiei</vt:lpstr>
      <vt:lpstr>Analiza – evolutia populatiei</vt:lpstr>
      <vt:lpstr>Analiza – evolutia populatiei</vt:lpstr>
      <vt:lpstr>Analiza – evolutia populatiei</vt:lpstr>
      <vt:lpstr>Analiza – stabilitatea populatiei</vt:lpstr>
      <vt:lpstr>Analiza – stabilitatea populatiei</vt:lpstr>
      <vt:lpstr>Relevanta algoritmului MP</vt:lpstr>
      <vt:lpstr>Relevanta algoritmului MP</vt:lpstr>
      <vt:lpstr>Multumim pentru atentie!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Călin-Ștefan CONSTANTIN (141530)</dc:creator>
  <cp:lastModifiedBy>Călin-Ștefan CONSTANTIN (141530)</cp:lastModifiedBy>
  <cp:revision>3</cp:revision>
  <dcterms:created xsi:type="dcterms:W3CDTF">2025-01-16T14:01:37Z</dcterms:created>
  <dcterms:modified xsi:type="dcterms:W3CDTF">2025-01-16T17:59:14Z</dcterms:modified>
</cp:coreProperties>
</file>